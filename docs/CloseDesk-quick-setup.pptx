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A15A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CF7"/>
                </a:solidFill>
                <a:latin typeface="Georgia"/>
              </a:rPr>
              <a:t>Your inbox, sorted into one short page each morning.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5DCCF"/>
                </a:solidFill>
                <a:latin typeface="Calibri"/>
              </a:rPr>
              <a:t>About 10 minutes to set up. Runs on your laptop.
No Outlook add-in, no IT ticket, no cloud. A local AI model is optional.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A15A"/>
                </a:solidFill>
                <a:latin typeface="Calibri"/>
              </a:rPr>
              <a:t>Install Python   ·   Download   ·   Double-click   ·   Drag mail in   ·   (Optional) LM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What you need, and what you don't.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2  /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00" cy="4663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43F"/>
                </a:solidFill>
                <a:latin typeface="Georgia"/>
              </a:rPr>
              <a:t>You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B2416"/>
                </a:solidFill>
                <a:latin typeface="Calibri"/>
              </a:rPr>
              <a:t>A </a:t>
            </a:r>
            <a:r>
              <a:rPr sz="1700" b="1">
                <a:solidFill>
                  <a:srgbClr val="1B2416"/>
                </a:solidFill>
                <a:latin typeface="Calibri"/>
              </a:rPr>
              <a:t>Windows or Mac</a:t>
            </a:r>
            <a:r>
              <a:rPr sz="1700" b="0">
                <a:solidFill>
                  <a:srgbClr val="1B2416"/>
                </a:solidFill>
                <a:latin typeface="Calibri"/>
              </a:rPr>
              <a:t> laptop.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B2416"/>
                </a:solidFill>
                <a:latin typeface="Calibri"/>
              </a:rPr>
              <a:t>Python 3.11 or newer</a:t>
            </a:r>
            <a:r>
              <a:rPr sz="1700" b="0">
                <a:solidFill>
                  <a:srgbClr val="1B2416"/>
                </a:solidFill>
                <a:latin typeface="Calibri"/>
              </a:rPr>
              <a:t> (free, from python.org).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B2416"/>
                </a:solidFill>
                <a:latin typeface="Calibri"/>
              </a:rPr>
              <a:t>The </a:t>
            </a:r>
            <a:r>
              <a:rPr sz="1700" b="1">
                <a:solidFill>
                  <a:srgbClr val="1B2416"/>
                </a:solidFill>
                <a:latin typeface="Calibri"/>
              </a:rPr>
              <a:t>CloseDesk folder</a:t>
            </a:r>
            <a:r>
              <a:rPr sz="1700" b="0">
                <a:solidFill>
                  <a:srgbClr val="1B2416"/>
                </a:solidFill>
                <a:latin typeface="Calibri"/>
              </a:rPr>
              <a:t> from GitHub.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B2416"/>
                </a:solidFill>
                <a:latin typeface="Calibri"/>
              </a:rPr>
              <a:t>Outlook: classic, new, web, or Mac. Any of them works.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B2416"/>
                </a:solidFill>
                <a:latin typeface="Calibri"/>
              </a:rPr>
              <a:t>Optional:</a:t>
            </a:r>
            <a:r>
              <a:rPr sz="1700" b="0">
                <a:solidFill>
                  <a:srgbClr val="1B2416"/>
                </a:solidFill>
                <a:latin typeface="Calibri"/>
              </a:rPr>
              <a:t> LM Studio and a small model, for written summaries and chat answers.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486400" cy="466344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A15A"/>
                </a:solidFill>
                <a:latin typeface="Georgia"/>
              </a:rPr>
              <a:t>You don't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FFFCF7"/>
                </a:solidFill>
                <a:latin typeface="Calibri"/>
              </a:rPr>
              <a:t>An Outlook add-in or admin rights to Outlook.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FFFCF7"/>
                </a:solidFill>
                <a:latin typeface="Calibri"/>
              </a:rPr>
              <a:t>IT approval, Azure, or a Microsoft 365 app registration.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FFFCF7"/>
                </a:solidFill>
                <a:latin typeface="Calibri"/>
              </a:rPr>
              <a:t>A powerful laptop. </a:t>
            </a:r>
            <a:r>
              <a:rPr sz="1700" b="1">
                <a:solidFill>
                  <a:srgbClr val="FFFCF7"/>
                </a:solidFill>
                <a:latin typeface="Calibri"/>
              </a:rPr>
              <a:t>No model? Everything still works:</a:t>
            </a:r>
            <a:r>
              <a:rPr sz="1700" b="0">
                <a:solidFill>
                  <a:srgbClr val="FFFCF7"/>
                </a:solidFill>
                <a:latin typeface="Calibri"/>
              </a:rPr>
              <a:t> sorting, summaries, tasks, fraud warnings, search, chat lookups, and the daily digest.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FFFCF7"/>
                </a:solidFill>
                <a:latin typeface="Calibri"/>
              </a:rPr>
              <a:t>To send your mail anywhere. It stays on this computer.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Install Python.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3  /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27080" y="320040"/>
            <a:ext cx="822960" cy="82296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3931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4A15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6949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0">
                <a:solidFill>
                  <a:srgbClr val="1B2416"/>
                </a:solidFill>
                <a:latin typeface="Calibri"/>
              </a:rPr>
              <a:t>Go to </a:t>
            </a:r>
            <a:r>
              <a:rPr sz="2000" b="1">
                <a:solidFill>
                  <a:srgbClr val="1B2416"/>
                </a:solidFill>
                <a:latin typeface="Calibri"/>
              </a:rPr>
              <a:t>python.org/downloads</a:t>
            </a:r>
            <a:r>
              <a:rPr sz="2000" b="0">
                <a:solidFill>
                  <a:srgbClr val="1B2416"/>
                </a:solidFill>
                <a:latin typeface="Calibri"/>
              </a:rPr>
              <a:t> and click the big yellow </a:t>
            </a:r>
            <a:r>
              <a:rPr sz="2000" b="1">
                <a:solidFill>
                  <a:srgbClr val="1B2416"/>
                </a:solidFill>
                <a:latin typeface="Calibri"/>
              </a:rPr>
              <a:t>Download Python</a:t>
            </a:r>
            <a:r>
              <a:rPr sz="2000" b="0">
                <a:solidFill>
                  <a:srgbClr val="1B2416"/>
                </a:solidFill>
                <a:latin typeface="Calibri"/>
              </a:rPr>
              <a:t> button.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1B2416"/>
                </a:solidFill>
                <a:latin typeface="Calibri"/>
              </a:rPr>
              <a:t>Run the installer.</a:t>
            </a:r>
          </a:p>
          <a:p>
            <a:pPr algn="l">
              <a:spcAft>
                <a:spcPts val="900"/>
              </a:spcAft>
            </a:pPr>
            <a:r>
              <a:rPr sz="2000" b="1">
                <a:solidFill>
                  <a:srgbClr val="1B2416"/>
                </a:solidFill>
                <a:latin typeface="Calibri"/>
              </a:rPr>
              <a:t>Windows: tick “Add python.exe to PATH”</a:t>
            </a:r>
            <a:r>
              <a:rPr sz="2000" b="0">
                <a:solidFill>
                  <a:srgbClr val="1B2416"/>
                </a:solidFill>
                <a:latin typeface="Calibri"/>
              </a:rPr>
              <a:t> at the bottom of the first screen, then click </a:t>
            </a:r>
            <a:r>
              <a:rPr sz="2000" b="1">
                <a:solidFill>
                  <a:srgbClr val="1B2416"/>
                </a:solidFill>
                <a:latin typeface="Calibri"/>
              </a:rPr>
              <a:t>Install Now</a:t>
            </a:r>
            <a:r>
              <a:rPr sz="2000" b="0">
                <a:solidFill>
                  <a:srgbClr val="1B2416"/>
                </a:solidFill>
                <a:latin typeface="Calibri"/>
              </a:rPr>
              <a:t>. This one box is the most common setup problem.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1B2416"/>
                </a:solidFill>
                <a:latin typeface="Calibri"/>
              </a:rPr>
              <a:t>Mac: open the downloaded .pkg and click through.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1B2416"/>
                </a:solidFill>
                <a:latin typeface="Calibri"/>
              </a:rPr>
              <a:t>You only do this once.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3840480" cy="292608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A15A"/>
                </a:solidFill>
                <a:latin typeface="Calibri"/>
              </a:rPr>
              <a:t>Windows installer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5DCCF"/>
                </a:solidFill>
                <a:latin typeface="Calibri"/>
              </a:rPr>
              <a:t>☐  Use admin privileges when installing py.exe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834640"/>
            <a:ext cx="3566160" cy="50292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8986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43F"/>
                </a:solidFill>
                <a:latin typeface="Calibri"/>
              </a:rPr>
              <a:t>☑  Add python.exe to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A15A"/>
                </a:solidFill>
                <a:latin typeface="Calibri"/>
              </a:rPr>
              <a:t>Tick this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Get CloseDesk from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4  /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27080" y="320040"/>
            <a:ext cx="822960" cy="82296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3931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4A15A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1B2416"/>
                </a:solidFill>
                <a:latin typeface="Calibri"/>
              </a:rPr>
              <a:t>Open the CloseDesk page on GitHub.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B2416"/>
                </a:solidFill>
                <a:latin typeface="Calibri"/>
              </a:rPr>
              <a:t>Click the green </a:t>
            </a:r>
            <a:r>
              <a:rPr sz="1900" b="1">
                <a:solidFill>
                  <a:srgbClr val="1B2416"/>
                </a:solidFill>
                <a:latin typeface="Calibri"/>
              </a:rPr>
              <a:t>Code</a:t>
            </a:r>
            <a:r>
              <a:rPr sz="1900" b="0">
                <a:solidFill>
                  <a:srgbClr val="1B2416"/>
                </a:solidFill>
                <a:latin typeface="Calibri"/>
              </a:rPr>
              <a:t> button, then </a:t>
            </a:r>
            <a:r>
              <a:rPr sz="1900" b="1">
                <a:solidFill>
                  <a:srgbClr val="1B2416"/>
                </a:solidFill>
                <a:latin typeface="Calibri"/>
              </a:rPr>
              <a:t>Download ZIP</a:t>
            </a:r>
            <a:r>
              <a:rPr sz="1900" b="0">
                <a:solidFill>
                  <a:srgbClr val="1B2416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B2416"/>
                </a:solidFill>
                <a:latin typeface="Calibri"/>
              </a:rPr>
              <a:t>Unzip it</a:t>
            </a:r>
            <a:r>
              <a:rPr sz="1900" b="0">
                <a:solidFill>
                  <a:srgbClr val="1B2416"/>
                </a:solidFill>
                <a:latin typeface="Calibri"/>
              </a:rPr>
              <a:t> somewhere permanent, for example </a:t>
            </a:r>
            <a:r>
              <a:rPr sz="1900" b="1">
                <a:solidFill>
                  <a:srgbClr val="1B2416"/>
                </a:solidFill>
                <a:latin typeface="Calibri"/>
              </a:rPr>
              <a:t>Documents</a:t>
            </a:r>
            <a:r>
              <a:rPr sz="1900" b="0">
                <a:solidFill>
                  <a:srgbClr val="1B2416"/>
                </a:solidFill>
                <a:latin typeface="Calibri"/>
              </a:rPr>
              <a:t>. (Windows: right-click the ZIP → </a:t>
            </a:r>
            <a:r>
              <a:rPr sz="1900" b="1">
                <a:solidFill>
                  <a:srgbClr val="1B2416"/>
                </a:solidFill>
                <a:latin typeface="Calibri"/>
              </a:rPr>
              <a:t>Extract All</a:t>
            </a:r>
            <a:r>
              <a:rPr sz="1900" b="0">
                <a:solidFill>
                  <a:srgbClr val="1B2416"/>
                </a:solidFill>
                <a:latin typeface="Calibri"/>
              </a:rPr>
              <a:t>.)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B2416"/>
                </a:solidFill>
                <a:latin typeface="Calibri"/>
              </a:rPr>
              <a:t>The folder is called </a:t>
            </a:r>
            <a:r>
              <a:rPr sz="1900" b="1">
                <a:solidFill>
                  <a:srgbClr val="1B2416"/>
                </a:solidFill>
                <a:latin typeface="Calibri"/>
              </a:rPr>
              <a:t>outlook-email-main</a:t>
            </a:r>
            <a:r>
              <a:rPr sz="1900" b="0">
                <a:solidFill>
                  <a:srgbClr val="1B2416"/>
                </a:solidFill>
                <a:latin typeface="Calibri"/>
              </a:rPr>
              <a:t>. Rename it </a:t>
            </a:r>
            <a:r>
              <a:rPr sz="1900" b="1">
                <a:solidFill>
                  <a:srgbClr val="1B2416"/>
                </a:solidFill>
                <a:latin typeface="Calibri"/>
              </a:rPr>
              <a:t>CloseDesk</a:t>
            </a:r>
            <a:r>
              <a:rPr sz="1900" b="0">
                <a:solidFill>
                  <a:srgbClr val="1B2416"/>
                </a:solidFill>
                <a:latin typeface="Calibri"/>
              </a:rPr>
              <a:t> if you like.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B2416"/>
                </a:solidFill>
                <a:latin typeface="Calibri"/>
              </a:rPr>
              <a:t>Don't run it from inside the ZIP; unzip first.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1B2416"/>
                </a:solidFill>
                <a:latin typeface="Calibri"/>
              </a:rPr>
              <a:t>Your mail and settings live in this folder, in </a:t>
            </a:r>
            <a:r>
              <a:rPr sz="1900" b="1">
                <a:solidFill>
                  <a:srgbClr val="1B2416"/>
                </a:solidFill>
                <a:latin typeface="Calibri"/>
              </a:rPr>
              <a:t>inbox</a:t>
            </a:r>
            <a:r>
              <a:rPr sz="1900" b="0">
                <a:solidFill>
                  <a:srgbClr val="1B2416"/>
                </a:solidFill>
                <a:latin typeface="Calibri"/>
              </a:rPr>
              <a:t> and </a:t>
            </a:r>
            <a:r>
              <a:rPr sz="1900" b="1">
                <a:solidFill>
                  <a:srgbClr val="1B2416"/>
                </a:solidFill>
                <a:latin typeface="Calibri"/>
              </a:rPr>
              <a:t>data</a:t>
            </a:r>
            <a:r>
              <a:rPr sz="1900" b="0">
                <a:solidFill>
                  <a:srgbClr val="1B2416"/>
                </a:solidFill>
                <a:latin typeface="Calibri"/>
              </a:rPr>
              <a:t>. Keep the folder when you update.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63040"/>
            <a:ext cx="3840480" cy="393192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A15A"/>
                </a:solidFill>
                <a:latin typeface="Calibri"/>
              </a:rPr>
              <a:t>Inside the folder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48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CF7"/>
                </a:solidFill>
                <a:latin typeface="Calibri"/>
              </a:rPr>
              <a:t>CloseDesk.bat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DCCF"/>
                </a:solidFill>
                <a:latin typeface="Calibri"/>
              </a:rPr>
              <a:t>double-click (Windows)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770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CF7"/>
                </a:solidFill>
                <a:latin typeface="Calibri"/>
              </a:rPr>
              <a:t>CloseDesk.command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0449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DCCF"/>
                </a:solidFill>
                <a:latin typeface="Calibri"/>
              </a:rPr>
              <a:t>double-click (Mac)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3924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CF7"/>
                </a:solidFill>
                <a:latin typeface="Calibri"/>
              </a:rPr>
              <a:t>inbox\incoming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6667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DCCF"/>
                </a:solidFill>
                <a:latin typeface="Calibri"/>
              </a:rPr>
              <a:t>drop mail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0142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CF7"/>
                </a:solidFill>
                <a:latin typeface="Calibri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2885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DCCF"/>
                </a:solidFill>
                <a:latin typeface="Calibri"/>
              </a:rPr>
              <a:t>appears after the first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6360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CF7"/>
                </a:solidFill>
                <a:latin typeface="Calibri"/>
              </a:rPr>
              <a:t>README.md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9103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5DCCF"/>
                </a:solidFill>
                <a:latin typeface="Calibri"/>
              </a:rPr>
              <a:t>the short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Double-click CloseDesk.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5  /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27080" y="320040"/>
            <a:ext cx="822960" cy="82296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3931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4A15A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Windows: </a:t>
            </a:r>
            <a:r>
              <a:rPr sz="1500" b="1">
                <a:solidFill>
                  <a:srgbClr val="1B2416"/>
                </a:solidFill>
                <a:latin typeface="Calibri"/>
              </a:rPr>
              <a:t>CloseDesk.bat</a:t>
            </a:r>
            <a:r>
              <a:rPr sz="1500" b="0">
                <a:solidFill>
                  <a:srgbClr val="1B2416"/>
                </a:solidFill>
                <a:latin typeface="Calibri"/>
              </a:rPr>
              <a:t>.
Mac: </a:t>
            </a:r>
            <a:r>
              <a:rPr sz="1500" b="1">
                <a:solidFill>
                  <a:srgbClr val="1B2416"/>
                </a:solidFill>
                <a:latin typeface="Calibri"/>
              </a:rPr>
              <a:t>CloseDesk.command</a:t>
            </a:r>
            <a:r>
              <a:rPr sz="1500" b="0">
                <a:solidFill>
                  <a:srgbClr val="1B2416"/>
                </a:solidFill>
                <a:latin typeface="Calibri"/>
              </a:rPr>
              <a:t>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The first run sets itself up (a minute or two), then opens the dashboard in your browser.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B2416"/>
                </a:solidFill>
                <a:latin typeface="Calibri"/>
              </a:rPr>
              <a:t>Leave the black window open</a:t>
            </a:r>
            <a:r>
              <a:rPr sz="1500" b="0">
                <a:solidFill>
                  <a:srgbClr val="1B2416"/>
                </a:solidFill>
                <a:latin typeface="Calibri"/>
              </a:rPr>
              <a:t> while you use it.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Windows “protected your PC”? Click </a:t>
            </a:r>
            <a:r>
              <a:rPr sz="1500" b="1">
                <a:solidFill>
                  <a:srgbClr val="1B2416"/>
                </a:solidFill>
                <a:latin typeface="Calibri"/>
              </a:rPr>
              <a:t>More info → Run anyway</a:t>
            </a:r>
            <a:r>
              <a:rPr sz="1500" b="0">
                <a:solidFill>
                  <a:srgbClr val="1B2416"/>
                </a:solidFill>
                <a:latin typeface="Calibri"/>
              </a:rPr>
              <a:t>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Mac “can't be opened”? </a:t>
            </a:r>
            <a:r>
              <a:rPr sz="1500" b="1">
                <a:solidFill>
                  <a:srgbClr val="1B2416"/>
                </a:solidFill>
                <a:latin typeface="Calibri"/>
              </a:rPr>
              <a:t>Right-click → Open → Open</a:t>
            </a:r>
            <a:r>
              <a:rPr sz="1500" b="0">
                <a:solidFill>
                  <a:srgbClr val="1B2416"/>
                </a:solidFill>
                <a:latin typeface="Calibri"/>
              </a:rPr>
              <a:t> once.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Click </a:t>
            </a:r>
            <a:r>
              <a:rPr sz="1500" b="1">
                <a:solidFill>
                  <a:srgbClr val="1B2416"/>
                </a:solidFill>
                <a:latin typeface="Calibri"/>
              </a:rPr>
              <a:t>Load sample mailbox</a:t>
            </a:r>
            <a:r>
              <a:rPr sz="1500" b="0">
                <a:solidFill>
                  <a:srgbClr val="1B2416"/>
                </a:solidFill>
                <a:latin typeface="Calibri"/>
              </a:rPr>
              <a:t> to look around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7589519" cy="4777739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t_star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7498079" cy="46862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3400" y="6103619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A59"/>
                </a:solidFill>
                <a:latin typeface="Calibri"/>
              </a:rPr>
              <a:t>The first page. The sample is removed as soon as your own mail comes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Drag your mail in, then Process new mail.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6  /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27080" y="320040"/>
            <a:ext cx="822960" cy="82296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3931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4A15A"/>
                </a:solidFill>
                <a:latin typeface="Georg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B2416"/>
                </a:solidFill>
                <a:latin typeface="Calibri"/>
              </a:rPr>
              <a:t>Classic Outlook (Windows):</a:t>
            </a:r>
            <a:r>
              <a:rPr sz="1500" b="0">
                <a:solidFill>
                  <a:srgbClr val="1B2416"/>
                </a:solidFill>
                <a:latin typeface="Calibri"/>
              </a:rPr>
              <a:t> select yesterday's mail (click the first, Shift+click the last) and drag it onto the </a:t>
            </a:r>
            <a:r>
              <a:rPr sz="1500" b="1">
                <a:solidFill>
                  <a:srgbClr val="1B2416"/>
                </a:solidFill>
                <a:latin typeface="Calibri"/>
              </a:rPr>
              <a:t>inbox\incoming</a:t>
            </a:r>
            <a:r>
              <a:rPr sz="1500" b="0">
                <a:solidFill>
                  <a:srgbClr val="1B2416"/>
                </a:solidFill>
                <a:latin typeface="Calibri"/>
              </a:rPr>
              <a:t> folder.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B2416"/>
                </a:solidFill>
                <a:latin typeface="Calibri"/>
              </a:rPr>
              <a:t>New Outlook / web:</a:t>
            </a:r>
            <a:r>
              <a:rPr sz="1500" b="0">
                <a:solidFill>
                  <a:srgbClr val="1B2416"/>
                </a:solidFill>
                <a:latin typeface="Calibri"/>
              </a:rPr>
              <a:t> open a message → </a:t>
            </a:r>
            <a:r>
              <a:rPr sz="1500" b="1">
                <a:solidFill>
                  <a:srgbClr val="1B2416"/>
                </a:solidFill>
                <a:latin typeface="Calibri"/>
              </a:rPr>
              <a:t>… → Save as</a:t>
            </a:r>
            <a:r>
              <a:rPr sz="1500" b="0">
                <a:solidFill>
                  <a:srgbClr val="1B2416"/>
                </a:solidFill>
                <a:latin typeface="Calibri"/>
              </a:rPr>
              <a:t> → save the .eml into </a:t>
            </a:r>
            <a:r>
              <a:rPr sz="1500" b="1">
                <a:solidFill>
                  <a:srgbClr val="1B2416"/>
                </a:solidFill>
                <a:latin typeface="Calibri"/>
              </a:rPr>
              <a:t>inbox/incoming</a:t>
            </a:r>
            <a:r>
              <a:rPr sz="1500" b="0">
                <a:solidFill>
                  <a:srgbClr val="1B2416"/>
                </a:solidFill>
                <a:latin typeface="Calibri"/>
              </a:rPr>
              <a:t>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B2416"/>
                </a:solidFill>
                <a:latin typeface="Calibri"/>
              </a:rPr>
              <a:t>Mac:</a:t>
            </a:r>
            <a:r>
              <a:rPr sz="1500" b="0">
                <a:solidFill>
                  <a:srgbClr val="1B2416"/>
                </a:solidFill>
                <a:latin typeface="Calibri"/>
              </a:rPr>
              <a:t> drag messages into </a:t>
            </a:r>
            <a:r>
              <a:rPr sz="1500" b="1">
                <a:solidFill>
                  <a:srgbClr val="1B2416"/>
                </a:solidFill>
                <a:latin typeface="Calibri"/>
              </a:rPr>
              <a:t>inbox/incoming</a:t>
            </a:r>
            <a:r>
              <a:rPr sz="1500" b="0">
                <a:solidFill>
                  <a:srgbClr val="1B2416"/>
                </a:solidFill>
                <a:latin typeface="Calibri"/>
              </a:rPr>
              <a:t> in Finder.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Click </a:t>
            </a:r>
            <a:r>
              <a:rPr sz="1500" b="1">
                <a:solidFill>
                  <a:srgbClr val="1B2416"/>
                </a:solidFill>
                <a:latin typeface="Calibri"/>
              </a:rPr>
              <a:t>Process new mail</a:t>
            </a:r>
            <a:r>
              <a:rPr sz="1500" b="0">
                <a:solidFill>
                  <a:srgbClr val="1B2416"/>
                </a:solidFill>
                <a:latin typeface="Calibri"/>
              </a:rPr>
              <a:t>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Tip: pin </a:t>
            </a:r>
            <a:r>
              <a:rPr sz="1500" b="1">
                <a:solidFill>
                  <a:srgbClr val="1B2416"/>
                </a:solidFill>
                <a:latin typeface="Calibri"/>
              </a:rPr>
              <a:t>inbox\incoming</a:t>
            </a:r>
            <a:r>
              <a:rPr sz="1500" b="0">
                <a:solidFill>
                  <a:srgbClr val="1B2416"/>
                </a:solidFill>
                <a:latin typeface="Calibri"/>
              </a:rPr>
              <a:t> to Quick Access.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7589519" cy="4777739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o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7498079" cy="46862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3400" y="6103619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A59"/>
                </a:solidFill>
                <a:latin typeface="Calibri"/>
              </a:rPr>
              <a:t>Today: payment-change warnings first, then your ranked focus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STEP 5 (OPTIONAL)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Add a local AI model, if the laptop can run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7  /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27080" y="320040"/>
            <a:ext cx="822960" cy="82296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3931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4A15A"/>
                </a:solidFill>
                <a:latin typeface="Georg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B2416"/>
                </a:solidFill>
                <a:latin typeface="Calibri"/>
              </a:rPr>
              <a:t>Install </a:t>
            </a:r>
            <a:r>
              <a:rPr sz="1800" b="1">
                <a:solidFill>
                  <a:srgbClr val="1B2416"/>
                </a:solidFill>
                <a:latin typeface="Calibri"/>
              </a:rPr>
              <a:t>LM Studio</a:t>
            </a:r>
            <a:r>
              <a:rPr sz="1800" b="0">
                <a:solidFill>
                  <a:srgbClr val="1B2416"/>
                </a:solidFill>
                <a:latin typeface="Calibri"/>
              </a:rPr>
              <a:t> (lmstudio.ai).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B2416"/>
                </a:solidFill>
                <a:latin typeface="Calibri"/>
              </a:rPr>
              <a:t>Download a small </a:t>
            </a:r>
            <a:r>
              <a:rPr sz="1800" b="1">
                <a:solidFill>
                  <a:srgbClr val="1B2416"/>
                </a:solidFill>
                <a:latin typeface="Calibri"/>
              </a:rPr>
              <a:t>instruct</a:t>
            </a:r>
            <a:r>
              <a:rPr sz="1800" b="0">
                <a:solidFill>
                  <a:srgbClr val="1B2416"/>
                </a:solidFill>
                <a:latin typeface="Calibri"/>
              </a:rPr>
              <a:t> model: 3B–8B is plenty.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B2416"/>
                </a:solidFill>
                <a:latin typeface="Calibri"/>
              </a:rPr>
              <a:t>Load it, open the </a:t>
            </a:r>
            <a:r>
              <a:rPr sz="1800" b="1">
                <a:solidFill>
                  <a:srgbClr val="1B2416"/>
                </a:solidFill>
                <a:latin typeface="Calibri"/>
              </a:rPr>
              <a:t>Developer</a:t>
            </a:r>
            <a:r>
              <a:rPr sz="1800" b="0">
                <a:solidFill>
                  <a:srgbClr val="1B2416"/>
                </a:solidFill>
                <a:latin typeface="Calibri"/>
              </a:rPr>
              <a:t> tab, click </a:t>
            </a:r>
            <a:r>
              <a:rPr sz="1800" b="1">
                <a:solidFill>
                  <a:srgbClr val="1B2416"/>
                </a:solidFill>
                <a:latin typeface="Calibri"/>
              </a:rPr>
              <a:t>Start server</a:t>
            </a:r>
            <a:r>
              <a:rPr sz="1800" b="0">
                <a:solidFill>
                  <a:srgbClr val="1B2416"/>
                </a:solidFill>
                <a:latin typeface="Calibri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B2416"/>
                </a:solidFill>
                <a:latin typeface="Calibri"/>
              </a:rPr>
              <a:t>Click </a:t>
            </a:r>
            <a:r>
              <a:rPr sz="1800" b="1">
                <a:solidFill>
                  <a:srgbClr val="1B2416"/>
                </a:solidFill>
                <a:latin typeface="Calibri"/>
              </a:rPr>
              <a:t>Process new mail</a:t>
            </a:r>
            <a:r>
              <a:rPr sz="1800" b="0">
                <a:solidFill>
                  <a:srgbClr val="1B2416"/>
                </a:solidFill>
                <a:latin typeface="Calibri"/>
              </a:rPr>
              <a:t>. CloseDesk finds the model on its own: </a:t>
            </a:r>
            <a:r>
              <a:rPr sz="1800" b="1">
                <a:solidFill>
                  <a:srgbClr val="1B2416"/>
                </a:solidFill>
                <a:latin typeface="Calibri"/>
              </a:rPr>
              <a:t>Local AI: Off</a:t>
            </a:r>
            <a:r>
              <a:rPr sz="1800" b="0">
                <a:solidFill>
                  <a:srgbClr val="1B2416"/>
                </a:solidFill>
                <a:latin typeface="Calibri"/>
              </a:rPr>
              <a:t> disappears and the bottom-left shows the model's name.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463040"/>
            <a:ext cx="6217920" cy="676656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591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CF7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591056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CF7"/>
                </a:solidFill>
                <a:latin typeface="Calibri"/>
              </a:rPr>
              <a:t>No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591056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CF7"/>
                </a:solidFill>
                <a:latin typeface="Calibri"/>
              </a:rPr>
              <a:t>With a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176272"/>
            <a:ext cx="6217920" cy="67665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3042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Sorting into Needs you / Worth knowing /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04288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Yes (rules)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304288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Yes, with guard rails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889504"/>
            <a:ext cx="6217920" cy="676656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One-line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1752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The email's key sentence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0175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Written by the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602736"/>
            <a:ext cx="6217920" cy="67665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37307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Tasks, due dates, fraud warnings, digest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30752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730752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4315968"/>
            <a:ext cx="6217920" cy="676656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444398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Ask CloseDesk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443984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Finds the emails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44398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Writes an answer with links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5029200"/>
            <a:ext cx="6217920" cy="67665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515721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Draft a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157216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Starter template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5157216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Written 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GETTING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Click an email and it opens right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8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Click any email, task, search result, or chat link: it opens in a panel on the right. </a:t>
            </a:r>
            <a:r>
              <a:rPr sz="1500" b="1">
                <a:solidFill>
                  <a:srgbClr val="1B2416"/>
                </a:solidFill>
                <a:latin typeface="Calibri"/>
              </a:rPr>
              <a:t>Esc</a:t>
            </a:r>
            <a:r>
              <a:rPr sz="1500" b="0">
                <a:solidFill>
                  <a:srgbClr val="1B2416"/>
                </a:solidFill>
                <a:latin typeface="Calibri"/>
              </a:rPr>
              <a:t> closes it.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B2416"/>
                </a:solidFill>
                <a:latin typeface="Calibri"/>
              </a:rPr>
              <a:t>Open in Outlook</a:t>
            </a:r>
            <a:r>
              <a:rPr sz="1500" b="0">
                <a:solidFill>
                  <a:srgbClr val="1B2416"/>
                </a:solidFill>
                <a:latin typeface="Calibri"/>
              </a:rPr>
              <a:t> opens the original message.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B2416"/>
                </a:solidFill>
                <a:latin typeface="Calibri"/>
              </a:rPr>
              <a:t>Draft a reply</a:t>
            </a:r>
            <a:r>
              <a:rPr sz="1500" b="0">
                <a:solidFill>
                  <a:srgbClr val="1B2416"/>
                </a:solidFill>
                <a:latin typeface="Calibri"/>
              </a:rPr>
              <a:t> writes a reply to copy or open in your mail app. Payment-change emails get “verify by phone” advice instead.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Press </a:t>
            </a:r>
            <a:r>
              <a:rPr sz="1500" b="1">
                <a:solidFill>
                  <a:srgbClr val="1B2416"/>
                </a:solidFill>
                <a:latin typeface="Calibri"/>
              </a:rPr>
              <a:t>/</a:t>
            </a:r>
            <a:r>
              <a:rPr sz="1500" b="0">
                <a:solidFill>
                  <a:srgbClr val="1B2416"/>
                </a:solidFill>
                <a:latin typeface="Calibri"/>
              </a:rPr>
              <a:t> to search everything, including attachments.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7589519" cy="4777739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7498079" cy="46862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GETTING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Ask CloseDesk, like a support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9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The button at the </a:t>
            </a:r>
            <a:r>
              <a:rPr sz="1500" b="1">
                <a:solidFill>
                  <a:srgbClr val="1B2416"/>
                </a:solidFill>
                <a:latin typeface="Calibri"/>
              </a:rPr>
              <a:t>bottom-right</a:t>
            </a:r>
            <a:r>
              <a:rPr sz="1500" b="0">
                <a:solidFill>
                  <a:srgbClr val="1B2416"/>
                </a:solidFill>
                <a:latin typeface="Calibri"/>
              </a:rPr>
              <a:t> of every page.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Try: </a:t>
            </a:r>
            <a:r>
              <a:rPr sz="1500" b="1">
                <a:solidFill>
                  <a:srgbClr val="1B2416"/>
                </a:solidFill>
                <a:latin typeface="Calibri"/>
              </a:rPr>
              <a:t>what's urgent today?</a:t>
            </a:r>
            <a:r>
              <a:rPr sz="1500" b="0">
                <a:solidFill>
                  <a:srgbClr val="1B2416"/>
                </a:solidFill>
                <a:latin typeface="Calibri"/>
              </a:rPr>
              <a:t> · </a:t>
            </a:r>
            <a:r>
              <a:rPr sz="1500" b="1">
                <a:solidFill>
                  <a:srgbClr val="1B2416"/>
                </a:solidFill>
                <a:latin typeface="Calibri"/>
              </a:rPr>
              <a:t>what needs a reply?</a:t>
            </a:r>
            <a:r>
              <a:rPr sz="1500" b="0">
                <a:solidFill>
                  <a:srgbClr val="1B2416"/>
                </a:solidFill>
                <a:latin typeface="Calibri"/>
              </a:rPr>
              <a:t> · </a:t>
            </a:r>
            <a:r>
              <a:rPr sz="1500" b="1">
                <a:solidFill>
                  <a:srgbClr val="1B2416"/>
                </a:solidFill>
                <a:latin typeface="Calibri"/>
              </a:rPr>
              <a:t>anything from Maya?</a:t>
            </a:r>
            <a:r>
              <a:rPr sz="1500" b="0">
                <a:solidFill>
                  <a:srgbClr val="1B2416"/>
                </a:solidFill>
                <a:latin typeface="Calibri"/>
              </a:rPr>
              <a:t> · </a:t>
            </a:r>
            <a:r>
              <a:rPr sz="1500" b="1">
                <a:solidFill>
                  <a:srgbClr val="1B2416"/>
                </a:solidFill>
                <a:latin typeface="Calibri"/>
              </a:rPr>
              <a:t>invoice 10482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Click a </a:t>
            </a:r>
            <a:r>
              <a:rPr sz="1500" b="1">
                <a:solidFill>
                  <a:srgbClr val="1B2416"/>
                </a:solidFill>
                <a:latin typeface="Calibri"/>
              </a:rPr>
              <a:t>[number]</a:t>
            </a:r>
            <a:r>
              <a:rPr sz="1500" b="0">
                <a:solidFill>
                  <a:srgbClr val="1B2416"/>
                </a:solidFill>
                <a:latin typeface="Calibri"/>
              </a:rPr>
              <a:t> to open that email.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No model: it looks things up and lists the matching emails. With a model: it writes the answer.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416"/>
                </a:solidFill>
                <a:latin typeface="Calibri"/>
              </a:rPr>
              <a:t>Nothing leaves the laptop.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7589519" cy="4777739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7498079" cy="46862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0" y="6103619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A59"/>
                </a:solidFill>
                <a:latin typeface="Calibri"/>
              </a:rPr>
              <a:t>With no model running, answers are a lookup with links to each email.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MAKE IT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Pick the kind of inbox on Setup.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10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B2416"/>
                </a:solidFill>
                <a:latin typeface="Calibri"/>
              </a:rPr>
              <a:t>General</a:t>
            </a:r>
            <a:r>
              <a:rPr sz="1600" b="0">
                <a:solidFill>
                  <a:srgbClr val="1B2416"/>
                </a:solidFill>
                <a:latin typeface="Calibri"/>
              </a:rPr>
              <a:t> (default) suits anyone: replies, approvals, meetings, deadlines, notifications.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B2416"/>
                </a:solidFill>
                <a:latin typeface="Calibri"/>
              </a:rPr>
              <a:t>Finance &amp; accounting</a:t>
            </a:r>
            <a:r>
              <a:rPr sz="1600" b="0">
                <a:solidFill>
                  <a:srgbClr val="1B2416"/>
                </a:solidFill>
                <a:latin typeface="Calibri"/>
              </a:rPr>
              <a:t> adds the month-end countdown and close sections.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B2416"/>
                </a:solidFill>
                <a:latin typeface="Calibri"/>
              </a:rPr>
              <a:t>Invoices and payment-change warnings are caught either way.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B2416"/>
                </a:solidFill>
                <a:latin typeface="Calibri"/>
              </a:rPr>
              <a:t>The Setup page also shows whether a local model is running.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7589519" cy="4777739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7498079" cy="46862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EVERY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Three steps, about five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11  /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611880" cy="265176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CF7"/>
                </a:solidFill>
                <a:latin typeface="Georgia"/>
              </a:rPr>
              <a:t>Drag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5DCCF"/>
                </a:solidFill>
                <a:latin typeface="Calibri"/>
              </a:rPr>
              <a:t>Yesterday's mail from Outlook into inbox/incoming.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611880" cy="2651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CF7"/>
                </a:solidFill>
                <a:latin typeface="Georgia"/>
              </a:rPr>
              <a:t>Double-click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5DCCF"/>
                </a:solidFill>
                <a:latin typeface="Calibri"/>
              </a:rPr>
              <a:t>CloseDesk. It reads the mail and opens today's page.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3611880" cy="265176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CF7"/>
                </a:solidFill>
                <a:latin typeface="Georgia"/>
              </a:rPr>
              <a:t>Work the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5DCCF"/>
                </a:solidFill>
                <a:latin typeface="Calibri"/>
              </a:rPr>
              <a:t>Top to bottom. Click Done as you go; past digests are kept.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89120"/>
            <a:ext cx="11201400" cy="1737360"/>
          </a:xfrm>
          <a:prstGeom prst="rect">
            <a:avLst/>
          </a:prstGeom>
          <a:solidFill>
            <a:srgbClr val="9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CF7"/>
                </a:solidFill>
                <a:latin typeface="Georgia"/>
              </a:rPr>
              <a:t>A red “Do not process — verify by phone” 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CF7"/>
                </a:solidFill>
                <a:latin typeface="Calibri"/>
              </a:rPr>
              <a:t>means someone asked to change bank or payment details. Call a number you already have before doing anything. Don't pay or reply from that email.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CHECK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43F"/>
                </a:solidFill>
                <a:latin typeface="Georgia"/>
              </a:rPr>
              <a:t>You're ready when…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quick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12  /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120640" cy="7315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6362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A15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45336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2416"/>
                </a:solidFill>
                <a:latin typeface="Calibri"/>
              </a:rPr>
              <a:t>Double-clicking CloseDesk opens the dashboard.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5120640" cy="7315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8658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A15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68296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2416"/>
                </a:solidFill>
                <a:latin typeface="Calibri"/>
              </a:rPr>
              <a:t>An email dragged into inbox/incoming shows up after Process new mail.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5120640" cy="7315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0954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A15A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91256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2416"/>
                </a:solidFill>
                <a:latin typeface="Calibri"/>
              </a:rPr>
              <a:t>The header says Local AI: Off (fine), or the bottom-left shows your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6A59"/>
                </a:solidFill>
                <a:latin typeface="Calibri"/>
              </a:rPr>
              <a:t>Full guide: docs/SETUP.md in the CloseDesk folder.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417320"/>
            <a:ext cx="5806440" cy="45720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A15A"/>
                </a:solidFill>
                <a:latin typeface="Calibri"/>
              </a:rPr>
              <a:t>If something is 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920240"/>
            <a:ext cx="5806440" cy="76809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9751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F"/>
                </a:solidFill>
                <a:latin typeface="Calibri"/>
              </a:rPr>
              <a:t>“Python 3.11 or newer is needed”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304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Reinstall Python and tick Add python.exe to PATH.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2743200"/>
            <a:ext cx="5806440" cy="768096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7980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F"/>
                </a:solidFill>
                <a:latin typeface="Calibri"/>
              </a:rPr>
              <a:t>The page doesn't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127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Keep the black window open; go to http://127.0.0.1:8765.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3566160"/>
            <a:ext cx="5806440" cy="76809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6210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F"/>
                </a:solidFill>
                <a:latin typeface="Calibri"/>
              </a:rPr>
              <a:t>Local AI: 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9502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Fine. Start LM Studio's server for written answers.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4389120"/>
            <a:ext cx="5806440" cy="768096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44439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F"/>
                </a:solidFill>
                <a:latin typeface="Calibri"/>
              </a:rPr>
              <a:t>A file went to inbox/failed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773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Read the .why.txt beside it; re-save from Outlook.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5212080"/>
            <a:ext cx="5806440" cy="76809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52669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43F"/>
                </a:solidFill>
                <a:latin typeface="Calibri"/>
              </a:rPr>
              <a:t>A category is wrong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596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16"/>
                </a:solidFill>
                <a:latin typeface="Calibri"/>
              </a:rPr>
              <a:t>Open it → Wrong category? → one sentence why.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CloseDesk — quick setup</dc:title>
  <dc:subject>Set up CloseDesk on a laptop, with or without a local AI model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